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 — Football Event Intelligence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29400" y="649224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StatsBomb Open Data / Hudl Open Data · 2023/24 FA WSL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 — Football Event Intelligence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Chelsea’s high-regain game is strong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not demonstrably distinctive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76656" y="288036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deck · 2023/24 FA Women’s Super League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" y="4005072"/>
            <a:ext cx="2212848" cy="1225296"/>
          </a:xfrm>
          <a:prstGeom prst="roundRect">
            <a:avLst>
              <a:gd name="adj" fmla="val 5970"/>
            </a:avLst>
          </a:prstGeom>
          <a:solidFill>
            <a:srgbClr val="1B4364"/>
          </a:solidFill>
          <a:ln w="12700">
            <a:solidFill>
              <a:srgbClr val="5D83A0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8795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50799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controlled possession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own defensive third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C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355848" y="4005072"/>
            <a:ext cx="2212848" cy="1225296"/>
          </a:xfrm>
          <a:prstGeom prst="roundRect">
            <a:avLst>
              <a:gd name="adj" fmla="val 5970"/>
            </a:avLst>
          </a:prstGeom>
          <a:solidFill>
            <a:srgbClr val="1B4364"/>
          </a:solidFill>
          <a:ln w="12700">
            <a:solidFill>
              <a:srgbClr val="5D83A0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418795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it high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83864" y="450799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Regain starts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attacking final third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32704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C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16752" y="4005072"/>
            <a:ext cx="2212848" cy="1225296"/>
          </a:xfrm>
          <a:prstGeom prst="roundRect">
            <a:avLst>
              <a:gd name="adj" fmla="val 5970"/>
            </a:avLst>
          </a:prstGeom>
          <a:solidFill>
            <a:srgbClr val="1B4364"/>
          </a:solidFill>
          <a:ln w="12700">
            <a:solidFill>
              <a:srgbClr val="5D83A0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418795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44768" y="450799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or successful box entry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15 seconds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9360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C7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677656" y="4005072"/>
            <a:ext cx="2212848" cy="1225296"/>
          </a:xfrm>
          <a:prstGeom prst="roundRect">
            <a:avLst>
              <a:gd name="adj" fmla="val 5970"/>
            </a:avLst>
          </a:prstGeom>
          <a:solidFill>
            <a:srgbClr val="244D6E"/>
          </a:solidFill>
          <a:ln w="12700">
            <a:solidFill>
              <a:srgbClr val="5D83A0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418795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05672" y="450799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0.10 total xG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5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15 seconds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5596128"/>
            <a:ext cx="10835640" cy="566928"/>
          </a:xfrm>
          <a:prstGeom prst="roundRect">
            <a:avLst>
              <a:gd name="adj" fmla="val 12903"/>
            </a:avLst>
          </a:prstGeom>
          <a:solidFill>
            <a:srgbClr val="0F2F49"/>
          </a:solidFill>
          <a:ln w="12700">
            <a:solidFill>
              <a:srgbClr val="0F2F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51576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maintain the current high-regain approach; do not increase pressing intensity from this evidence alone.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" y="649224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DC3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StatsBomb Open Data / Hudl Open Data · frozen 2023/24 FA WSL match universe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analysis separates opportunity from outcome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counts alone cannot tell us whether Chelsea are genuinely distinctive.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EF5FA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63624"/>
            <a:ext cx="393192" cy="393192"/>
          </a:xfrm>
          <a:prstGeom prst="ellipse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27632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opponent possession with controlled possession in its own defensive third.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060704" y="3319272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denominator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90672" y="2267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8A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392424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AF2F8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1563624"/>
            <a:ext cx="393192" cy="393192"/>
          </a:xfrm>
          <a:prstGeom prst="ellipse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627632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21305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regain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02736" y="2596896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Live-play possession change beginning at x ≥ 80 for the defending team.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794760" y="3319272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24728" y="2267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8A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E8F4EE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563624"/>
            <a:ext cx="393192" cy="393192"/>
          </a:xfrm>
          <a:prstGeom prst="ellipse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627632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1305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Post-regain attack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36792" y="2596896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shot or successful penalty-area entry within 15 seconds.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28816" y="3319272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58784" y="226771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8A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860536" y="1417320"/>
            <a:ext cx="2395728" cy="2240280"/>
          </a:xfrm>
          <a:prstGeom prst="roundRect">
            <a:avLst>
              <a:gd name="adj" fmla="val 3265"/>
            </a:avLst>
          </a:prstGeom>
          <a:solidFill>
            <a:srgbClr val="FFF1D6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1563624"/>
            <a:ext cx="393192" cy="393192"/>
          </a:xfrm>
          <a:prstGeom prst="ellipse">
            <a:avLst/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1627632"/>
            <a:ext cx="393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25128" y="21305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Dangerous attack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70848" y="2596896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0.10 total StatsBomb xG within the same 15-second window.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262872" y="3319272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54312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" y="4160520"/>
            <a:ext cx="1067104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425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comparison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315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Chelsea FCW  ↔  Manchester City WFC  +  Arsenal WFC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33272" y="4828032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were selected from final league performance, independently of the regain results. All 12 teams remain league context.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0120" y="5806440"/>
            <a:ext cx="1024128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980176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discipline: uncertainty and definition sensitivity are tested before the coaching recommendation is made.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Chelsea do not win possession high more often than their main peers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 adjustment removes the misleading effect of different exposure.</a:t>
            </a:r>
            <a:endParaRPr lang="en-US" sz="1150" dirty="0"/>
          </a:p>
        </p:txBody>
      </p:sp>
      <p:pic>
        <p:nvPicPr>
          <p:cNvPr id="4" name="Image 0" descr="/mnt/data/figure_1_high_regain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5438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353312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6276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after exposure adjustment?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12480" y="230428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Chelsea faced 1,245 qualifying opportunities — more than City (1,155) or Arsenal (1,185).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85632" y="3337560"/>
            <a:ext cx="2688336" cy="384048"/>
          </a:xfrm>
          <a:prstGeom prst="roundRect">
            <a:avLst>
              <a:gd name="adj" fmla="val 1904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7072" y="341071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Chelsea: 7.6%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0" y="3858768"/>
            <a:ext cx="2862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differences vs City and Arsenal are small; first-pass intervals and whole-match bootstrap checks both include no meaningful difference.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" y="5806440"/>
            <a:ext cx="10716768" cy="484632"/>
          </a:xfrm>
          <a:prstGeom prst="roundRect">
            <a:avLst>
              <a:gd name="adj" fmla="val 1132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5934456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implication: do not describe high-regain frequency as a Chelsea competitive advantage.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Chelsea signal appears after the regain — but it is not conclusive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is similar; dangerous-attack rate is higher descriptively, with substantial uncertainty and definition sensitivity.</a:t>
            </a:r>
            <a:endParaRPr lang="en-US" sz="1150" dirty="0"/>
          </a:p>
        </p:txBody>
      </p:sp>
      <p:pic>
        <p:nvPicPr>
          <p:cNvPr id="4" name="Image 0" descr="/mnt/data/figure_2_post_regain_attack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5646"/>
            <a:ext cx="5650992" cy="3390595"/>
          </a:xfrm>
          <a:prstGeom prst="rect">
            <a:avLst/>
          </a:prstGeom>
        </p:spPr>
      </p:pic>
      <p:pic>
        <p:nvPicPr>
          <p:cNvPr id="5" name="Image 1" descr="/mnt/data/figure_3_dangerous_attack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5646"/>
            <a:ext cx="5650992" cy="33905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4956048"/>
            <a:ext cx="3401568" cy="1024128"/>
          </a:xfrm>
          <a:prstGeom prst="roundRect">
            <a:avLst>
              <a:gd name="adj" fmla="val 4464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41832" y="51755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7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38.3%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993392" y="51389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Chelsea post-regain attack rate</a:t>
            </a:r>
            <a:endParaRPr lang="en-US" sz="1170" dirty="0"/>
          </a:p>
          <a:p>
            <a:pPr indent="0" marL="0">
              <a:buNone/>
            </a:pPr>
            <a:r>
              <a:rPr lang="en-US" sz="117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peers</a:t>
            </a:r>
            <a:endParaRPr lang="en-US" sz="1170" dirty="0"/>
          </a:p>
        </p:txBody>
      </p:sp>
      <p:sp>
        <p:nvSpPr>
          <p:cNvPr id="9" name="Shape 5"/>
          <p:cNvSpPr/>
          <p:nvPr/>
        </p:nvSpPr>
        <p:spPr>
          <a:xfrm>
            <a:off x="4407408" y="4956048"/>
            <a:ext cx="3401568" cy="1024128"/>
          </a:xfrm>
          <a:prstGeom prst="roundRect">
            <a:avLst>
              <a:gd name="adj" fmla="val 446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17720" y="51755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6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11.7%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705856" y="5093208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Dangerous attacks per high regain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9.5% Arsenal / 8.7% City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8074152" y="4956048"/>
            <a:ext cx="3401568" cy="1024128"/>
          </a:xfrm>
          <a:prstGeom prst="roundRect">
            <a:avLst>
              <a:gd name="adj" fmla="val 4464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02752" y="51297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robust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281160" y="50566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Intervals include no difference; Chelsea’s relative position changes across 10/15/20s and 0.10/0.20/0.30 xG definitions.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maintain the press; investigate post-regain execution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strong enough to reject a “press more because Chelsea are uniquely good at this” story — not strong enough to justify a tactical overhaul.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285232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00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7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2688" y="2295144"/>
            <a:ext cx="274320" cy="274320"/>
          </a:xfrm>
          <a:prstGeom prst="ellipse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04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2258568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the current high-regain approach.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236976"/>
            <a:ext cx="274320" cy="274320"/>
          </a:xfrm>
          <a:prstGeom prst="ellipse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3200400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high regains as one part of the attacking model, not a proven standalone competitive advantage.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4178808"/>
            <a:ext cx="274320" cy="274320"/>
          </a:xfrm>
          <a:prstGeom prst="ellipse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1879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4142232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video review at the first actions after regaining the ball high.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5352" y="1417320"/>
            <a:ext cx="5285232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5240">
            <a:solidFill>
              <a:srgbClr val="D7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700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3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infer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510528" y="2295144"/>
            <a:ext cx="274320" cy="274320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2951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1152" y="225856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Chelsea should increase pressing intensity because their high-regain frequency is uniquely strong.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0528" y="3236976"/>
            <a:ext cx="274320" cy="274320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2369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1152" y="32004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the observed dangerous-attack advantage is a proven or causal effect.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0528" y="4178808"/>
            <a:ext cx="274320" cy="274320"/>
          </a:xfrm>
          <a:prstGeom prst="ellipse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1788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14223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event data alone explains the tactical mechanism behind individual regains.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" y="6108192"/>
            <a:ext cx="10561320" cy="292608"/>
          </a:xfrm>
          <a:prstGeom prst="roundRect">
            <a:avLst>
              <a:gd name="adj" fmla="val 15625"/>
            </a:avLst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6172200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evidence: first pass/carry · forward options · positioning · speed of exploitation · targeted video review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Analytical Casework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C01 — Football Event Intelligence — Decision Deck</dc:title>
  <dc:subject>C01 — Football Event Intelligence</dc:subject>
  <dc:creator>Humphrey Nyanzi</dc:creator>
  <cp:lastModifiedBy>Humphrey Nyanzi</cp:lastModifiedBy>
  <cp:revision>1</cp:revision>
  <dcterms:created xsi:type="dcterms:W3CDTF">2026-09-01T11:01:16Z</dcterms:created>
  <dcterms:modified xsi:type="dcterms:W3CDTF">2026-09-01T11:01:16Z</dcterms:modified>
</cp:coreProperties>
</file>